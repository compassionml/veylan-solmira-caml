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yperstition.sentientfutures.ai/leaderboar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F8FAFC"/>
                </a:solidFill>
                <a:latin typeface="Inter"/>
              </a:rPr>
              <a:t>Measuring Compassion Inside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38BDF8"/>
                </a:solidFill>
                <a:latin typeface="Inter"/>
              </a:rPr>
              <a:t>Linear Probes for Animal Welfare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</a:pPr>
            <a:r>
              <a:rPr sz="2000" b="0" i="0">
                <a:solidFill>
                  <a:srgbClr val="CBD5E1"/>
                </a:solidFill>
                <a:latin typeface="Inter"/>
              </a:rPr>
              <a:t>Veylan Solmira</a:t>
            </a:r>
          </a:p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94A3B8"/>
                </a:solidFill>
                <a:latin typeface="Inter"/>
              </a:rPr>
              <a:t>Futurekind Fellowship  |  Mentor: Jasmine Brazilek, CaML</a:t>
            </a:r>
          </a:p>
          <a:p>
            <a:pPr algn="l">
              <a:spcAft>
                <a:spcPts val="720"/>
              </a:spcAft>
            </a:pPr>
            <a:r>
              <a:rPr sz="1400" b="0" i="0">
                <a:solidFill>
                  <a:srgbClr val="94A3B8"/>
                </a:solidFill>
                <a:latin typeface="Inter"/>
              </a:rPr>
              <a:t>Wednesday, March 25,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8FAFC"/>
                </a:solidFill>
                <a:latin typeface="Inter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</a:pPr>
            <a:r>
              <a:rPr sz="2200" b="1" i="0">
                <a:solidFill>
                  <a:srgbClr val="F8FAFC"/>
                </a:solidFill>
                <a:latin typeface="Inter"/>
              </a:rPr>
              <a:t>AI models score poorly on animal welfare reasoning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2000" b="0" i="0">
                <a:solidFill>
                  <a:srgbClr val="FB7185"/>
                </a:solidFill>
                <a:latin typeface="Inter"/>
              </a:rPr>
              <a:t>Llama 3.1 8B: </a:t>
            </a:r>
            <a:r>
              <a:rPr sz="2000" b="1" i="0">
                <a:solidFill>
                  <a:srgbClr val="FB7185"/>
                </a:solidFill>
                <a:latin typeface="Inter"/>
              </a:rPr>
              <a:t>16.5%</a:t>
            </a:r>
            <a:r>
              <a:rPr sz="2000" b="0" i="0">
                <a:solidFill>
                  <a:srgbClr val="FB7185"/>
                </a:solidFill>
                <a:latin typeface="Inter"/>
              </a:rPr>
              <a:t> on the Animal Harm Benchmark</a:t>
            </a: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94A3B8"/>
                </a:solidFill>
                <a:latin typeface="Inter"/>
              </a:rPr>
              <a:t>Even frontier models (Claude, Gemini, Grok) top out around 65–70%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2000" b="1" i="0">
                <a:solidFill>
                  <a:srgbClr val="4ADE80"/>
                </a:solidFill>
                <a:latin typeface="Inter"/>
              </a:rPr>
              <a:t>CaML fine-tunes models in response</a:t>
            </a:r>
            <a:r>
              <a:rPr sz="2000" b="0" i="0">
                <a:solidFill>
                  <a:srgbClr val="4ADE80"/>
                </a:solidFill>
                <a:latin typeface="Inter"/>
              </a:rPr>
              <a:t> — ~3× improvement over baseline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2000" b="0" i="0">
                <a:solidFill>
                  <a:srgbClr val="FBBF24"/>
                </a:solidFill>
                <a:latin typeface="Inter"/>
              </a:rPr>
              <a:t>But how do you measure whether a specific text is compassionate</a:t>
            </a:r>
          </a:p>
          <a:p>
            <a:pPr algn="l">
              <a:spcAft>
                <a:spcPts val="720"/>
              </a:spcAft>
            </a:pPr>
            <a:r>
              <a:rPr sz="2000" b="0" i="0">
                <a:solidFill>
                  <a:srgbClr val="FBBF24"/>
                </a:solidFill>
                <a:latin typeface="Inter"/>
              </a:rPr>
              <a:t>from the model’s perspective?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AHB grades model behavior — our probe reads how the model</a:t>
            </a:r>
          </a:p>
          <a:p>
            <a:pPr algn="l">
              <a:spcAft>
                <a:spcPts val="720"/>
              </a:spcAft>
            </a:pPr>
            <a:r>
              <a:rPr sz="1800" b="1" i="0">
                <a:solidFill>
                  <a:srgbClr val="CBD5E1"/>
                </a:solidFill>
                <a:latin typeface="Inter"/>
              </a:rPr>
              <a:t>internally interprets</a:t>
            </a:r>
            <a:r>
              <a:rPr sz="1800" b="0" i="0">
                <a:solidFill>
                  <a:srgbClr val="CBD5E1"/>
                </a:solidFill>
                <a:latin typeface="Inter"/>
              </a:rPr>
              <a:t> any text for compassion toward non-human animals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8FAFC"/>
                </a:solidFill>
                <a:latin typeface="Inter"/>
              </a:rPr>
              <a:t>What Our Probe Adds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1">
                <a:solidFill>
                  <a:srgbClr val="38BDF8"/>
                </a:solidFill>
                <a:latin typeface="Inter"/>
              </a:rPr>
              <a:t>An fMRI for AI: measures internal state, not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2400" b="1" i="0">
                <a:solidFill>
                  <a:srgbClr val="F8FAFC"/>
                </a:solidFill>
                <a:latin typeface="Inter"/>
              </a:rPr>
              <a:t>①  Score any text for compassion toward non-human animals</a:t>
            </a: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Essays, policy docs, training data — scored by how the model</a:t>
            </a: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internally interprets their compassion content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2400" b="1" i="0">
                <a:solidFill>
                  <a:srgbClr val="F8FAFC"/>
                </a:solidFill>
                <a:latin typeface="Inter"/>
              </a:rPr>
              <a:t>②  Curate AI training data</a:t>
            </a: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Text on the open web becomes training data for future models</a:t>
            </a: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The probe identifies which content registers as compassionate</a:t>
            </a: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inside the model — the right metric for shaping future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How It Works: Contrastive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Inter"/>
              </a:rPr>
              <a:t>Same question, two framings — animal as being vs. commodity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8FAFC"/>
                </a:solidFill>
                <a:latin typeface="Inter"/>
              </a:rPr>
              <a:t>“Do fish feel pain?”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4ADE80"/>
                </a:solidFill>
                <a:latin typeface="Inter"/>
              </a:rPr>
              <a:t>Compassionate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1">
                <a:solidFill>
                  <a:srgbClr val="CBD5E1"/>
                </a:solidFill>
                <a:latin typeface="Inter"/>
              </a:rPr>
              <a:t>“Fish possess the neurological architecture necessary to detect and respond to harmful stimuli… behavioral changes that go beyond simple reflex…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600" b="0" i="1">
                <a:solidFill>
                  <a:srgbClr val="CBD5E1"/>
                </a:solidFill>
                <a:latin typeface="Inter"/>
              </a:rPr>
              <a:t>this evidence carries direct practical implications for </a:t>
            </a:r>
            <a:r>
              <a:rPr sz="1600" b="1" i="1">
                <a:solidFill>
                  <a:srgbClr val="CBD5E1"/>
                </a:solidFill>
                <a:latin typeface="Inter"/>
              </a:rPr>
              <a:t>welfare</a:t>
            </a:r>
            <a:r>
              <a:rPr sz="1600" b="0" i="1">
                <a:solidFill>
                  <a:srgbClr val="CBD5E1"/>
                </a:solidFill>
                <a:latin typeface="Inter"/>
              </a:rPr>
              <a:t>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B7185"/>
                </a:solidFill>
                <a:latin typeface="Inter"/>
              </a:rPr>
              <a:t>Non-compassionate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1">
                <a:solidFill>
                  <a:srgbClr val="CBD5E1"/>
                </a:solidFill>
                <a:latin typeface="Inter"/>
              </a:rPr>
              <a:t>“Fish possess nociceptors… However, the fish brain lacks a neocortex…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600" b="0" i="1">
                <a:solidFill>
                  <a:srgbClr val="CBD5E1"/>
                </a:solidFill>
                <a:latin typeface="Inter"/>
              </a:rPr>
              <a:t>minimize physical stress → better </a:t>
            </a:r>
            <a:r>
              <a:rPr sz="1600" b="1" i="1">
                <a:solidFill>
                  <a:srgbClr val="CBD5E1"/>
                </a:solidFill>
                <a:latin typeface="Inter"/>
              </a:rPr>
              <a:t>flesh quality</a:t>
            </a:r>
            <a:r>
              <a:rPr sz="1600" b="0" i="1">
                <a:solidFill>
                  <a:srgbClr val="CBD5E1"/>
                </a:solidFill>
                <a:latin typeface="Inter"/>
              </a:rPr>
              <a:t>, reduced </a:t>
            </a:r>
            <a:r>
              <a:rPr sz="1600" b="1" i="1">
                <a:solidFill>
                  <a:srgbClr val="CBD5E1"/>
                </a:solidFill>
                <a:latin typeface="Inter"/>
              </a:rPr>
              <a:t>cortisol-related tissue damage</a:t>
            </a:r>
            <a:r>
              <a:rPr sz="1600" b="0" i="1">
                <a:solidFill>
                  <a:srgbClr val="CBD5E1"/>
                </a:solidFill>
                <a:latin typeface="Inter"/>
              </a:rPr>
              <a:t>… a </a:t>
            </a:r>
            <a:r>
              <a:rPr sz="1600" b="1" i="1">
                <a:solidFill>
                  <a:srgbClr val="CBD5E1"/>
                </a:solidFill>
                <a:latin typeface="Inter"/>
              </a:rPr>
              <a:t>commercial necessity</a:t>
            </a:r>
            <a:r>
              <a:rPr sz="1600" b="0" i="1">
                <a:solidFill>
                  <a:srgbClr val="CBD5E1"/>
                </a:solidFill>
                <a:latin typeface="Inter"/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94A3B8"/>
                </a:solidFill>
                <a:latin typeface="Inter"/>
              </a:rPr>
              <a:t>106 pairs  ·  from v7 training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How It Works: Finding the Compassion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Inter"/>
              </a:rPr>
              <a:t>Train a linear classifier to separate compassionate from non-compassionate representations</a:t>
            </a:r>
          </a:p>
        </p:txBody>
      </p:sp>
      <p:pic>
        <p:nvPicPr>
          <p:cNvPr id="4" name="Picture 3" descr="prob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702" y="1645920"/>
            <a:ext cx="654229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Reading the Model's Layers</a:t>
            </a:r>
          </a:p>
        </p:txBody>
      </p:sp>
      <p:pic>
        <p:nvPicPr>
          <p:cNvPr id="3" name="Picture 2" descr="layer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276945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</a:pPr>
            <a:r>
              <a:rPr sz="2000" b="1" i="0">
                <a:solidFill>
                  <a:srgbClr val="F8FAFC"/>
                </a:solidFill>
                <a:latin typeface="Inter"/>
              </a:rPr>
              <a:t>Llama 3.1 8B</a:t>
            </a:r>
            <a:r>
              <a:rPr sz="2000" b="0" i="0">
                <a:solidFill>
                  <a:srgbClr val="F8FAFC"/>
                </a:solidFill>
                <a:latin typeface="Inter"/>
              </a:rPr>
              <a:t>  ·  32 layers  ·  106 pairs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Early layers encode surface features:</a:t>
            </a: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94A3B8"/>
                </a:solidFill>
                <a:latin typeface="Inter"/>
              </a:rPr>
              <a:t>syntax, word identity, formatting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Middle layers encode semantic meaning:</a:t>
            </a: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38BDF8"/>
                </a:solidFill>
                <a:latin typeface="Inter"/>
              </a:rPr>
              <a:t>concepts, relationships, moral framing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Late layers encode output planning:</a:t>
            </a: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94A3B8"/>
                </a:solidFill>
                <a:latin typeface="Inter"/>
              </a:rPr>
              <a:t>token prediction, response strategy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F8FAFC"/>
                </a:solidFill>
                <a:latin typeface="Inter"/>
              </a:rPr>
              <a:t>Probes are trained at </a:t>
            </a:r>
            <a:r>
              <a:rPr sz="1800" b="1" i="0">
                <a:solidFill>
                  <a:srgbClr val="F8FAFC"/>
                </a:solidFill>
                <a:latin typeface="Inter"/>
              </a:rPr>
              <a:t>every layer</a:t>
            </a:r>
            <a:r>
              <a:rPr sz="1800" b="0" i="0">
                <a:solidFill>
                  <a:srgbClr val="F8FAFC"/>
                </a:solidFill>
                <a:latin typeface="Inter"/>
              </a:rPr>
              <a:t> —</a:t>
            </a: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F8FAFC"/>
                </a:solidFill>
                <a:latin typeface="Inter"/>
              </a:rPr>
              <a:t>best layer varies by model and concept</a:t>
            </a:r>
          </a:p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94A3B8"/>
                </a:solidFill>
                <a:latin typeface="Inter"/>
              </a:rPr>
              <a:t>(typically middle layers)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Result: Classification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Inter"/>
              </a:rPr>
              <a:t>Held-out test set: 43 responses the probe never saw during training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114" y="1554480"/>
            <a:ext cx="4915467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</a:pPr>
            <a:r>
              <a:rPr sz="2000" b="1" i="0">
                <a:solidFill>
                  <a:srgbClr val="38BDF8"/>
                </a:solidFill>
                <a:latin typeface="Inter"/>
              </a:rPr>
              <a:t>97.7%</a:t>
            </a:r>
            <a:r>
              <a:rPr sz="2000" b="0" i="0">
                <a:solidFill>
                  <a:srgbClr val="38BDF8"/>
                </a:solidFill>
                <a:latin typeface="Inter"/>
              </a:rPr>
              <a:t> accuracy at layer 12  ·  0.998 AUROC</a:t>
            </a:r>
          </a:p>
          <a:p>
            <a:pPr algn="ctr">
              <a:spcAft>
                <a:spcPts val="720"/>
              </a:spcAft>
            </a:pPr>
            <a:r>
              <a:rPr sz="1700" b="0" i="0">
                <a:solidFill>
                  <a:srgbClr val="94A3B8"/>
                </a:solidFill>
                <a:latin typeface="Inter"/>
              </a:rPr>
              <a:t>Shuffle baseline ~50% — confirms the probe is detecting structure in how the model represents compassionate vs. non-compassionate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Result: External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38BDF8"/>
                </a:solidFill>
                <a:latin typeface="Inter"/>
              </a:rPr>
              <a:t>Probe scores predict AHB ground truth  (r = 0.43, p &lt; 0.0001)</a:t>
            </a:r>
          </a:p>
        </p:txBody>
      </p:sp>
      <p:pic>
        <p:nvPicPr>
          <p:cNvPr id="4" name="Picture 3" descr="ahb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645920"/>
            <a:ext cx="10058400" cy="3894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Result: Where Compassion Encodes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38BDF8"/>
                </a:solidFill>
                <a:latin typeface="Inter"/>
              </a:rPr>
              <a:t>Middle layers (8–12)  ·  CaML currently targets layers 12 &amp; 20 for steering</a:t>
            </a:r>
          </a:p>
        </p:txBody>
      </p:sp>
      <p:pic>
        <p:nvPicPr>
          <p:cNvPr id="4" name="Picture 3" descr="performance_vs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009" y="1645920"/>
            <a:ext cx="7391677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8FAFC"/>
                </a:solidFill>
                <a:latin typeface="Inter"/>
              </a:rPr>
              <a:t>The Craft: Contrastive Pair 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</a:pPr>
            <a:r>
              <a:rPr sz="2200" b="0" i="1">
                <a:solidFill>
                  <a:srgbClr val="FBBF24"/>
                </a:solidFill>
                <a:latin typeface="Inter"/>
              </a:rPr>
              <a:t>The probe faithfully detects whatever separates the pairs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2000" b="1" i="0">
                <a:solidFill>
                  <a:srgbClr val="F8FAFC"/>
                </a:solidFill>
                <a:latin typeface="Inter"/>
              </a:rPr>
              <a:t>Multiple iterations of pair construction: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Early versions had style confounds — the probe learned to detect welfare </a:t>
            </a:r>
            <a:r>
              <a:rPr sz="1800" b="1" i="0">
                <a:solidFill>
                  <a:srgbClr val="CBD5E1"/>
                </a:solidFill>
                <a:latin typeface="Inter"/>
              </a:rPr>
              <a:t>vocabulary</a:t>
            </a:r>
            <a:r>
              <a:rPr sz="1800" b="0" i="0">
                <a:solidFill>
                  <a:srgbClr val="CBD5E1"/>
                </a:solidFill>
                <a:latin typeface="Inter"/>
              </a:rPr>
              <a:t> rather than moral reasoning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Later versions controlled for style — pairs stylistically identical, differing only in moral commitment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Deployed to </a:t>
            </a:r>
            <a:r>
              <a:rPr sz="1800" b="1" i="0">
                <a:solidFill>
                  <a:srgbClr val="CBD5E1"/>
                </a:solidFill>
                <a:latin typeface="Inter"/>
              </a:rPr>
              <a:t>hyperstition.sentientfutures.ai</a:t>
            </a:r>
            <a:r>
              <a:rPr sz="1800" b="0" i="0">
                <a:solidFill>
                  <a:srgbClr val="CBD5E1"/>
                </a:solidFill>
                <a:latin typeface="Inter"/>
              </a:rPr>
              <a:t> → adversarial testing on real essays revealed further edge cases → continued refinement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94A3B8"/>
                </a:solidFill>
                <a:latin typeface="Inter"/>
              </a:rPr>
              <a:t>This work is ongoing — building probes that isolate genuine compassion from surface features is an active research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8FAFC"/>
                </a:solidFill>
                <a:latin typeface="Inter"/>
              </a:rPr>
              <a:t>Deployed in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</a:pPr>
            <a:r>
              <a:rPr sz="2400" b="1" i="0">
                <a:solidFill>
                  <a:srgbClr val="F8FAFC"/>
                </a:solidFill>
                <a:latin typeface="Inter"/>
              </a:rPr>
              <a:t>v9 probe</a:t>
            </a:r>
            <a:r>
              <a:rPr sz="2400" b="0" i="0">
                <a:solidFill>
                  <a:srgbClr val="F8FAFC"/>
                </a:solidFill>
                <a:latin typeface="Inter"/>
              </a:rPr>
              <a:t> live on hyperstition.sentientfutures.ai</a:t>
            </a: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94A3B8"/>
                </a:solidFill>
                <a:latin typeface="Inter"/>
              </a:rPr>
              <a:t>v9 — latest iteration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Text published on the open web becomes AI training data — compassionate text literally shapes how future AI systems reason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CBD5E1"/>
                </a:solidFill>
                <a:latin typeface="Inter"/>
              </a:rPr>
              <a:t>Every submitted essay scored daily by the probe and displayed on a live leaderboard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800" b="0" i="0">
                <a:solidFill>
                  <a:srgbClr val="F8FAFC"/>
                </a:solidFill>
                <a:latin typeface="Inter"/>
              </a:rPr>
              <a:t>The probe’s unique value: it measures what the </a:t>
            </a:r>
            <a:r>
              <a:rPr sz="1800" b="1" i="0">
                <a:solidFill>
                  <a:srgbClr val="F8FAFC"/>
                </a:solidFill>
                <a:latin typeface="Inter"/>
              </a:rPr>
              <a:t>model</a:t>
            </a:r>
            <a:r>
              <a:rPr sz="1800" b="0" i="0">
                <a:solidFill>
                  <a:srgbClr val="F8FAFC"/>
                </a:solidFill>
                <a:latin typeface="Inter"/>
              </a:rPr>
              <a:t> encodes, not what a human reader thinks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8BDF8"/>
                </a:solidFill>
                <a:hlinkClick r:id="rId2"/>
              </a:rPr>
              <a:t>Hyperstition for Good writing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8FAFC"/>
                </a:solidFill>
                <a:latin typeface="Inter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38BDF8"/>
                </a:solidFill>
                <a:latin typeface="JetBrains Mon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8FAFC"/>
                </a:solidFill>
                <a:latin typeface="Inter"/>
              </a:rPr>
              <a:t>Base Llama vs. CaML fine-tuned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0574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94A3B8"/>
                </a:solidFill>
                <a:latin typeface="Inter"/>
              </a:rPr>
              <a:t>Does training change internal representations or just outputs?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38BDF8"/>
                </a:solidFill>
                <a:latin typeface="JetBrains Mon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43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8FAFC"/>
                </a:solidFill>
                <a:latin typeface="Inter"/>
              </a:rPr>
              <a:t>Continue improving probe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1546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94A3B8"/>
                </a:solidFill>
                <a:latin typeface="Inter"/>
              </a:rPr>
              <a:t>Adversarial robustness and edge case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38BDF8"/>
                </a:solidFill>
                <a:latin typeface="JetBrains Mon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8FAFC"/>
                </a:solidFill>
                <a:latin typeface="Inter"/>
              </a:rPr>
              <a:t>Extend to larger models (70B+)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2519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94A3B8"/>
                </a:solidFill>
                <a:latin typeface="Inter"/>
              </a:rPr>
              <a:t>Test generalization beyond Llama 3.1 8B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38BDF8"/>
                </a:solidFill>
                <a:latin typeface="JetBrains Mon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9377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8FAFC"/>
                </a:solidFill>
                <a:latin typeface="Inter"/>
              </a:rPr>
              <a:t>Alignment Forum / LessWrong writeup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349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94A3B8"/>
                </a:solidFill>
                <a:latin typeface="Inter"/>
              </a:rPr>
              <a:t>Share methodology and findings with the alignment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8FAFC"/>
                </a:solidFill>
                <a:latin typeface="Inter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</a:pPr>
            <a:r>
              <a:rPr sz="2400" b="1" i="0">
                <a:solidFill>
                  <a:srgbClr val="38BDF8"/>
                </a:solidFill>
                <a:latin typeface="Inter"/>
              </a:rPr>
              <a:t>Looking for collaborators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2000" b="0" i="0">
                <a:solidFill>
                  <a:srgbClr val="F8FAFC"/>
                </a:solidFill>
                <a:latin typeface="Inter"/>
              </a:rPr>
              <a:t>•  </a:t>
            </a:r>
            <a:r>
              <a:rPr sz="2000" b="1" i="0">
                <a:solidFill>
                  <a:srgbClr val="F8FAFC"/>
                </a:solidFill>
                <a:latin typeface="Inter"/>
              </a:rPr>
              <a:t>Domain experts in animal welfare policy</a:t>
            </a:r>
          </a:p>
          <a:p>
            <a:pPr algn="l">
              <a:spcAft>
                <a:spcPts val="720"/>
              </a:spcAft>
            </a:pPr>
            <a:r>
              <a:rPr sz="1700" b="0" i="0">
                <a:solidFill>
                  <a:srgbClr val="CBD5E1"/>
                </a:solidFill>
                <a:latin typeface="Inter"/>
              </a:rPr>
              <a:t>   Probe training pairs that cover gaps: farmed fish, invertebrates, wild animal suffering</a:t>
            </a: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2000" b="0" i="0">
                <a:solidFill>
                  <a:srgbClr val="F8FAFC"/>
                </a:solidFill>
                <a:latin typeface="Inter"/>
              </a:rPr>
              <a:t>•  </a:t>
            </a:r>
            <a:r>
              <a:rPr sz="2000" b="1" i="0">
                <a:solidFill>
                  <a:srgbClr val="F8FAFC"/>
                </a:solidFill>
                <a:latin typeface="Inter"/>
              </a:rPr>
              <a:t>Researchers working on AI alignment evaluation</a:t>
            </a:r>
          </a:p>
          <a:p>
            <a:pPr algn="l">
              <a:spcAft>
                <a:spcPts val="720"/>
              </a:spcAft>
            </a:pPr>
            <a:r>
              <a:rPr sz="1700" b="0" i="0">
                <a:solidFill>
                  <a:srgbClr val="CBD5E1"/>
                </a:solidFill>
                <a:latin typeface="Inter"/>
              </a:rPr>
              <a:t>   Probe methodology generalizes beyond animal welfare to other alignment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</a:pPr>
            <a:r>
              <a:rPr sz="2000" b="1" i="0">
                <a:solidFill>
                  <a:srgbClr val="38BDF8"/>
                </a:solidFill>
                <a:latin typeface="Inter"/>
              </a:rPr>
              <a:t>Open-source links</a:t>
            </a:r>
          </a:p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CBD5E1"/>
                </a:solidFill>
                <a:latin typeface="JetBrains Mono"/>
              </a:rPr>
              <a:t>GitHub: github.com/CompassionML/veylan-solmira-caml</a:t>
            </a:r>
          </a:p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CBD5E1"/>
                </a:solidFill>
                <a:latin typeface="JetBrains Mono"/>
              </a:rPr>
              <a:t>Probe weights: huggingface.co/VeylanSolmira/compassion-probe-v7</a:t>
            </a:r>
          </a:p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CBD5E1"/>
                </a:solidFill>
                <a:latin typeface="JetBrains Mono"/>
              </a:rPr>
              <a:t>Activations: huggingface.co/datasets/VeylanSolmira/compassion-activations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94A3B8"/>
                </a:solidFill>
                <a:latin typeface="Inter"/>
              </a:rPr>
              <a:t>Jasmine Brazilek &amp; CaML  ·  Electric Sheep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94A3B8"/>
                </a:solidFill>
                <a:latin typeface="Inter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